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65" r:id="rId5"/>
    <p:sldId id="266" r:id="rId6"/>
    <p:sldId id="258" r:id="rId7"/>
    <p:sldId id="259" r:id="rId8"/>
    <p:sldId id="260" r:id="rId9"/>
    <p:sldId id="262" r:id="rId10"/>
    <p:sldId id="261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539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8400" y="149710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02C39A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RAČUNARSKA INTELIGENCIJA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66800" y="2514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Prostorno-vremenska analiza i predikcija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indeksa kvaliteta vazduha u Srbiji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19430" y="674146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09160" y="5421341"/>
            <a:ext cx="59543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 err="1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Teodora</a:t>
            </a:r>
            <a:r>
              <a:rPr lang="en-US" dirty="0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Aleksić</a:t>
            </a:r>
            <a:r>
              <a:rPr lang="en-US" dirty="0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SV7/2023 </a:t>
            </a:r>
            <a:r>
              <a:rPr lang="en-US" dirty="0" err="1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</a:t>
            </a:r>
            <a:r>
              <a:rPr lang="en-US" dirty="0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Lenka</a:t>
            </a:r>
            <a:r>
              <a:rPr lang="en-US" dirty="0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Nikolić</a:t>
            </a:r>
            <a:r>
              <a:rPr lang="en-US" dirty="0">
                <a:solidFill>
                  <a:srgbClr val="9FC9C5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SV16/2023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542365"/>
            <a:ext cx="1104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Isti zadatak, četiri pristupa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3880" y="1365325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Aerozagađenje u srpskim gradovima redovno prelazi bezbedne granice. Cilj </a:t>
            </a:r>
            <a:r>
              <a:rPr lang="en-US" sz="16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projekta</a:t>
            </a: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jeste</a:t>
            </a: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pomak od reaktivnog praćenja ka proaktivnoj </a:t>
            </a:r>
            <a:r>
              <a:rPr lang="en-US" sz="16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predikciji</a:t>
            </a: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odnosno</a:t>
            </a: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prognoza PM2.5 koncentracije 24 </a:t>
            </a:r>
            <a:r>
              <a:rPr lang="en-US" sz="16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sata</a:t>
            </a: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unapred</a:t>
            </a: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kao osnova za sisteme ranog upozoravanja.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3880" y="2794647"/>
            <a:ext cx="2606040" cy="2318657"/>
          </a:xfrm>
          <a:prstGeom prst="roundRect">
            <a:avLst>
              <a:gd name="adj" fmla="val 290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n>
                <a:solidFill>
                  <a:srgbClr val="00B050"/>
                </a:solidFill>
              </a:ln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3181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3880" y="3986063"/>
            <a:ext cx="259841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500"/>
              </a:lnSpc>
            </a:pP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Analogija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K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najsličnijih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istorijskih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primera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90900" y="2794647"/>
            <a:ext cx="2606040" cy="2318658"/>
          </a:xfrm>
          <a:prstGeom prst="roundRect">
            <a:avLst>
              <a:gd name="adj" fmla="val 290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332305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3986063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500"/>
              </a:lnSpc>
            </a:pP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Rekurentna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neuronska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mreža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memorijskim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kapijama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4605719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89981"/>
            <a:ext cx="2606040" cy="2318658"/>
          </a:xfrm>
          <a:prstGeom prst="roundRect">
            <a:avLst>
              <a:gd name="adj" fmla="val 290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33181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399232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500"/>
              </a:lnSpc>
            </a:pP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Gradijentni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busting, level-wise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rast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stabala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4605719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789979"/>
            <a:ext cx="2606040" cy="2318659"/>
          </a:xfrm>
          <a:prstGeom prst="roundRect">
            <a:avLst>
              <a:gd name="adj" fmla="val 290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52560" y="3327723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52560" y="3986063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500"/>
              </a:lnSpc>
            </a:pP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Gradijentni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busting, leaf-wise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rast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stabala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52560" y="4605719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Svi modeli koriste isti hronološki train / val / test split (70 / 20 / 10%) i isti test period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55092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XGBoost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i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LightGBM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: gradijentni busting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11136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Oba modela grade niz stabala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odlučivanja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svako naredno stablo ispravlja greške prethodnog. Razlikuju se po strategiji rasta stabla: XGBoost raste nivo-po-nivo, LightGBM raste list-po-list, što ga čini bržim na velikim skupovima podataka.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9120" y="3019896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Isti feature set kao KNN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sirovi polutanti,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vremenski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atributi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bliski i daleki lagovi, rolling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statistike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konzistentnost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pipeline-a.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9120" y="3877799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GridSearchCV + TimeSeriesSplit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pretraga n_estimators, max_depth/num_leaves, learning_rate, subsample.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9120" y="473570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Early stopping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trening se zaustavlja kad validacioni skup prestane da se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poboljšava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sprečava overfitting.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5585" y="1958675"/>
            <a:ext cx="4443549" cy="3352862"/>
          </a:xfrm>
          <a:prstGeom prst="roundRect">
            <a:avLst>
              <a:gd name="adj" fmla="val 173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56120" y="23223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   </a:t>
            </a:r>
            <a:r>
              <a:rPr lang="en-US" sz="15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Hiperparametri</a:t>
            </a:r>
            <a:r>
              <a:rPr lang="en-US" sz="15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(podrazumevani)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56120" y="307214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4472C4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XGBoost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56120" y="338364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500 stabala, dubina 6, learning rate 0.05, subsample 0.8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71360" y="406721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E08A2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LightGBM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56120" y="43782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1000 stabala, 63 lista, learning rate 0.05, subsample 0.8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443753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Rezultati na test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skupu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za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Beograd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03538"/>
            <a:ext cx="2560320" cy="4997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13.2409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41243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XGBoost</a:t>
            </a: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RMSE (μg/m³)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1903538"/>
            <a:ext cx="2560320" cy="4997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0.4563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4612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XGBoost</a:t>
            </a: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R²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235390"/>
            <a:ext cx="2560320" cy="45534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A2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13.4117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690735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LightGBM</a:t>
            </a: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RMSE (μg/m³)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46120" y="301752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3235389"/>
            <a:ext cx="2560320" cy="45534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A2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0.4422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369073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LightGBM</a:t>
            </a: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R²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XGBoost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je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neznatno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precizniji od LightGBM-a na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ovom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gradu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 Level-wise rast stabla daje malu prednost u tačnosti, iako je LightGBM brži za trening na svih 28 gradova.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Image 0" descr="images/scatter_xgb_lgb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1559052"/>
            <a:ext cx="5669280" cy="31363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17920" y="493417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Stvarno vs. </a:t>
            </a:r>
            <a:r>
              <a:rPr lang="en-US" sz="1200" i="1" dirty="0" err="1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predviđeno</a:t>
            </a:r>
            <a:r>
              <a:rPr lang="en-US" sz="1200" i="1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 skup (</a:t>
            </a:r>
            <a:r>
              <a:rPr lang="en-US" sz="1200" i="1" dirty="0" err="1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200" i="1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– </a:t>
            </a:r>
            <a:r>
              <a:rPr lang="en-US" sz="1200" i="1" dirty="0" err="1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200" i="1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46168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Provera van </a:t>
            </a:r>
            <a:r>
              <a:rPr lang="en-US" sz="2800" b="1" dirty="0" err="1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uzorka</a:t>
            </a: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6. jun 2026.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464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Iste ključne gradove predviđaju i XGBoost/LightGBM modeli, na osnovu poslednjih 48h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podataka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porede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ih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stvarno izmerenim vrednostima tog dana.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545410"/>
              </p:ext>
            </p:extLst>
          </p:nvPr>
        </p:nvGraphicFramePr>
        <p:xfrm>
          <a:off x="1250576" y="2384612"/>
          <a:ext cx="9690848" cy="346679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422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2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886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predikcija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predikcija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Stvarno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(6.6.2026)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Beograd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9.67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10.55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13.73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7.46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7.39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12.75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Kopaonik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6.92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6.77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11.90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Kostolac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10.29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10.05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12.30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Niš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9.71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9.64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14.53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Novi Sad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8.08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8.24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10.62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Smederevo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9.55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10.19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14.98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Valjevo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9.53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8.75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15.97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3880" y="52251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2800" b="1" dirty="0"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KNN: </a:t>
            </a:r>
            <a:r>
              <a:rPr lang="en-US" sz="2800" b="1" dirty="0" err="1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Analogija</a:t>
            </a:r>
            <a:r>
              <a:rPr lang="en-US" sz="2800" b="1" dirty="0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K </a:t>
            </a:r>
            <a:r>
              <a:rPr lang="en-US" sz="2800" b="1" dirty="0" err="1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najsličnijih</a:t>
            </a:r>
            <a:r>
              <a:rPr lang="en-US" sz="2800" b="1" dirty="0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istorijskih</a:t>
            </a:r>
            <a:r>
              <a:rPr lang="en-US" sz="2800" b="1" dirty="0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primera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2228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Za svaki trenutak, model pronalazi K istorijski najsličnijih situacija (po koncentraciji zagađivača i vremenskim obeležjima) i kao predikciju vraća njihovu težinsku sredinu.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3880" y="27889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Sužen skup atributa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od 117 na ~40,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analiza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važnosti pokazala je da previše sličnih lagova šteti tačnosti (curse of dimensionality).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66413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Hiperparametri traženi pretragom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GridSearchCV sa TimeSeriesSplit biraju K i način težinjenja suseda, poštujući hronologiju.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3880" y="4538971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Rezultat pretrage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 = 150, weights = distance.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95160" y="1502227"/>
            <a:ext cx="4572000" cy="4432041"/>
          </a:xfrm>
          <a:prstGeom prst="roundRect">
            <a:avLst>
              <a:gd name="adj" fmla="val 1702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95160" y="162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Struktura feature seta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0" y="2086973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Sirovi polutanti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0" y="236129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 (PM2.5, PM10, CO, SO₂, O₃, NO₂)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0" y="28411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Temporalni atributi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0" y="311483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sat, mesec, dan, grejna sezona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0" y="35890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Bliski lagovi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0" y="38698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1h, 2h, 3h, 6h, 12h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0" y="4343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Daleki lagovi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0" y="462593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22–25h i 46–48h (dnevni ciklus)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0" y="5106271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Rolling statistike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0" y="538115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prosek / std / max, 12h i 24h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4099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LSTM: </a:t>
            </a:r>
            <a:r>
              <a:rPr lang="en-US" sz="2800" b="1" dirty="0">
                <a:solidFill>
                  <a:srgbClr val="1332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sekvencijalno</a:t>
            </a: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pamćenje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3880" y="1325500"/>
            <a:ext cx="82815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Umesto tabelarnog zapisa, LSTM posmatra prethodnih 48 sati kao vremensku sekvencu (48 × 16 obeležja) i uči da prepozna obrasce u toj sekvenci.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90" y="2539746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90" y="2539746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Ulaz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48×16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18550" y="2928366"/>
            <a:ext cx="201168" cy="0"/>
          </a:xfrm>
          <a:prstGeom prst="line">
            <a:avLst/>
          </a:prstGeom>
          <a:noFill/>
          <a:ln w="19050">
            <a:solidFill>
              <a:srgbClr val="5B7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19718" y="2539746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19718" y="2539746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LSTM(64)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71278" y="2928366"/>
            <a:ext cx="201168" cy="0"/>
          </a:xfrm>
          <a:prstGeom prst="line">
            <a:avLst/>
          </a:prstGeom>
          <a:noFill/>
          <a:ln w="19050">
            <a:solidFill>
              <a:srgbClr val="5B7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72446" y="2539746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72446" y="2539746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LSTM(32)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24006" y="2928366"/>
            <a:ext cx="201168" cy="0"/>
          </a:xfrm>
          <a:prstGeom prst="line">
            <a:avLst/>
          </a:prstGeom>
          <a:noFill/>
          <a:ln w="19050">
            <a:solidFill>
              <a:srgbClr val="5B7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25174" y="2539746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25174" y="2539746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Dense(16)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376734" y="2928366"/>
            <a:ext cx="201168" cy="0"/>
          </a:xfrm>
          <a:prstGeom prst="line">
            <a:avLst/>
          </a:prstGeom>
          <a:noFill/>
          <a:ln w="19050">
            <a:solidFill>
              <a:srgbClr val="5B7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77902" y="2539746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C034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7902" y="2539746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Izlaz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PM2.5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3880" y="346748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Dropout 0.2 nakon svakog LSTM </a:t>
            </a:r>
            <a:r>
              <a:rPr lang="en-US" sz="1200" i="1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sloja</a:t>
            </a:r>
            <a:r>
              <a:rPr lang="en-US" sz="1200" i="1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</a:t>
            </a:r>
            <a:r>
              <a:rPr lang="en-US" sz="1200" i="1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što</a:t>
            </a:r>
            <a:r>
              <a:rPr lang="en-US" sz="1200" i="1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sprečava overfitting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3880" y="4188333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Fiksiran random seed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ponovljivost rezultata pri poređenju izmena.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3880" y="4738117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Learning rate 0.0005 + ReduceLROnPlateau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sprečava zaglavljivanje treninga u lošem lokalnom minimumu.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90" y="53039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EarlyStopping  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trening staje kad validacioni gubitak prestane da opada.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47961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2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Rezultati</a:t>
            </a: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 test </a:t>
            </a:r>
            <a:r>
              <a:rPr lang="en-US" sz="2800" b="1" dirty="0" err="1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skupu</a:t>
            </a: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</a:t>
            </a: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Beograd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12869"/>
            <a:ext cx="2560320" cy="4810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13.3906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399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KNN  RMSE (μg/m³)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1912869"/>
            <a:ext cx="2560320" cy="4810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0.4439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46120" y="2393955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KNN  R²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234088"/>
            <a:ext cx="2560320" cy="472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44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13.1793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702849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LSTM  RMSE (μg/m³)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46120" y="3017520"/>
            <a:ext cx="2560320" cy="1188720"/>
          </a:xfrm>
          <a:prstGeom prst="roundRect">
            <a:avLst>
              <a:gd name="adj" fmla="val 5385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3234087"/>
            <a:ext cx="2560320" cy="46876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44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0.4637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3718151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LSTM  R²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LSTM je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neznatno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precizniji od KNN-a na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pokazatelja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Modelovanje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sekvence daje mali, ali dosledan dobitak u odnosu na analogiju sa pojedinačnim trenucima.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Image 0" descr="images/scatter_knn_lst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199" y="1554479"/>
            <a:ext cx="5750859" cy="317888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304428" y="47333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Stvarno vs. </a:t>
            </a:r>
            <a:r>
              <a:rPr lang="en-US" sz="1200" i="1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predviđeno</a:t>
            </a:r>
            <a:r>
              <a:rPr lang="en-US" sz="1200" i="1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test skup (jun 2025–2026)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4885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Provera van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uzorka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, 6. jun 2026.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3880" y="1313823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9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 osnovu poslednjih 48h podataka u datasetu, modeli su predvideli PM2.5 za naredni dan u 8 ključnih gradova. Predikcije upoređene sa stvarno izmerenim vrednostima tog dana.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300481"/>
              </p:ext>
            </p:extLst>
          </p:nvPr>
        </p:nvGraphicFramePr>
        <p:xfrm>
          <a:off x="1340222" y="2348755"/>
          <a:ext cx="9511556" cy="384406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37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 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predikcija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predikcija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Stvarno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(6.6.2026)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Beograd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10.12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10.66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13.73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8.13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6.66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12.75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Kopaonik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6.62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6.54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11.90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Kostolac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10.86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9.16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12.30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Niš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9.34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10.06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14.53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Novi Sad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8.95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8.00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10.62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Smederevo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9.86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9.83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14.98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118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Valjevo</a:t>
                      </a:r>
                      <a:endParaRPr lang="en-US" sz="1600" b="1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7.98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7.62</a:t>
                      </a:r>
                      <a:endParaRPr lang="en-US" sz="160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15.97</a:t>
                      </a:r>
                      <a:endParaRPr lang="en-US" sz="1600" dirty="0">
                        <a:solidFill>
                          <a:srgbClr val="1F1F1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497541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Gde modeli greše: ekstremni pikovi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3880" y="1320501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 scatter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graficima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slajdova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4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8,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tačke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se pri visokim koncentracijama odvajaju ispod linije savršene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predikcije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pa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sva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četiri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modela sistematski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potcenjuju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najopasnije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epizode zagađenja.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3880" y="2743199"/>
            <a:ext cx="11064240" cy="2653554"/>
          </a:xfrm>
          <a:prstGeom prst="roundRect">
            <a:avLst>
              <a:gd name="adj" fmla="val 3137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9640" y="3017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Zašto se ovo dešava?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9640" y="34747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9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Model uči isključivo iz istorijskih vrednosti zagađenja. Nagli skokovi PM2.5 su najčešće posledica meteoroloških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uslova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poput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vetra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temperature,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padavina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.. 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koji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nisu deo dataseta jer nisu bili dostupni preko istog API-ja.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9640" y="4343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1900"/>
              </a:lnSpc>
            </a:pP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Ovo je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ograničenje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dataseta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potvrđeno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je time što sva četiri modela (KNN, LSTM, XGBoost, LightGBM) nezavisno dostižu vrlo sličan plafon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tačnosti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(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slajd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11), pa je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ovo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prfirodna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polazna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tačka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za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buduća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unapređenja</a:t>
            </a:r>
            <a:r>
              <a:rPr lang="en-US" sz="1400" b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46168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Poređenje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sva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četiri</a:t>
            </a:r>
            <a:r>
              <a:rPr lang="en-US" sz="2800" b="1" dirty="0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1332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modela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546074"/>
              </p:ext>
            </p:extLst>
          </p:nvPr>
        </p:nvGraphicFramePr>
        <p:xfrm>
          <a:off x="548640" y="1619921"/>
          <a:ext cx="6400800" cy="2814919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6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Model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RMSE (μg/m³)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MAE (μg/m³)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R²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3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LSTM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13.1793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8.02589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0.4637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3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XGBoost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13.2409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7.8948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0.4563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3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KNN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13.3906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8.1458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0.4439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3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/>
                        <a:t>LightGBM</a:t>
                      </a:r>
                      <a:endParaRPr lang="en-US" sz="1400" b="1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13.4117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8.0944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0.4422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3880" y="4770119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Razlika u RMSE između najboljeg i najlošijeg modela je manja od 2% </a:t>
            </a:r>
            <a:r>
              <a:rPr lang="en-US" sz="1400" dirty="0" err="1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što</a:t>
            </a:r>
            <a:r>
              <a:rPr lang="en-US" sz="1400" dirty="0">
                <a:solidFill>
                  <a:srgbClr val="5B787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je snažan pokazatelj da su podaci i feature inženjering dobro urađeni, i da nijedan pristup nije drastično nadmoćan.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269480" y="1619921"/>
            <a:ext cx="4343400" cy="3856616"/>
          </a:xfrm>
          <a:prstGeom prst="roundRect">
            <a:avLst>
              <a:gd name="adj" fmla="val 1778"/>
            </a:avLst>
          </a:prstGeom>
          <a:solidFill>
            <a:srgbClr val="E7F4F3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43800" y="1848521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ekstremnih pikova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43800" y="2260001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12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 računate isključivo na satima gde je PM2.5 prešao SEPA prag "Veoma zagađen" (90 μg/m³) je direktan odgovor na pitanje specifikacije: koji model najbolje hvata opasne epizode zagađenja, ne samo prosečan dan.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43800" y="3905921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1700"/>
              </a:lnSpc>
            </a:pPr>
            <a:r>
              <a:rPr lang="vi-VN" sz="1400" b="1" i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Model koji ovde ima najmanji RMSE je taj koji je</a:t>
            </a:r>
            <a:r>
              <a:rPr lang="en-US" sz="1400" b="1" i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vi-VN" sz="1400" b="1" i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praktično najkorisniji za sistem ranog upozoravanja, jer greške u"mirnim" periodima imaju mnogo manje praktične posledice od greške bašonog dana kada je zagađenje opasno po zdravlje.</a:t>
            </a:r>
            <a:r>
              <a:rPr lang="en-US" sz="1400" b="1" i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400" b="1" i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Reč</a:t>
            </a:r>
            <a:r>
              <a:rPr lang="en-US" sz="1400" b="1" i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je o LSTM </a:t>
            </a:r>
            <a:r>
              <a:rPr lang="en-US" sz="1400" b="1" i="1" dirty="0" err="1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modelu</a:t>
            </a:r>
            <a:r>
              <a:rPr lang="en-US" sz="1400" b="1" i="1" dirty="0">
                <a:solidFill>
                  <a:srgbClr val="02809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80913" y="2448261"/>
            <a:ext cx="9601200" cy="2809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900"/>
              </a:lnSpc>
              <a:spcAft>
                <a:spcPts val="1200"/>
              </a:spcAft>
              <a:buClr>
                <a:schemeClr val="bg1"/>
              </a:buClr>
              <a:buSzPct val="130000"/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4 modela (KNN, LSTM, XGBoost, LightGBM) trenirana i evaluirana na identičnom, hronološki podeljenom test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skupu</a:t>
            </a:r>
            <a:endParaRPr lang="en-US" dirty="0">
              <a:solidFill>
                <a:schemeClr val="bg1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pPr marL="0" indent="0" algn="just">
              <a:lnSpc>
                <a:spcPts val="1900"/>
              </a:lnSpc>
              <a:spcAft>
                <a:spcPts val="1200"/>
              </a:spcAft>
              <a:buClr>
                <a:schemeClr val="bg1"/>
              </a:buClr>
              <a:buSzPct val="130000"/>
              <a:buFont typeface="Wingdings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pPr algn="just">
              <a:lnSpc>
                <a:spcPts val="1900"/>
              </a:lnSpc>
              <a:spcAft>
                <a:spcPts val="1200"/>
              </a:spcAft>
              <a:buClr>
                <a:schemeClr val="bg1"/>
              </a:buClr>
              <a:buSzPct val="130000"/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8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ključnih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gradova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pokriveno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treningom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van-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uzorka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proverom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za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6.6.2026.</a:t>
            </a:r>
          </a:p>
          <a:p>
            <a:pPr algn="just">
              <a:lnSpc>
                <a:spcPts val="1900"/>
              </a:lnSpc>
              <a:spcAft>
                <a:spcPts val="1200"/>
              </a:spcAft>
              <a:buClr>
                <a:schemeClr val="bg1"/>
              </a:buClr>
              <a:buSzPct val="130000"/>
              <a:buFont typeface="Wingdings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pPr algn="just">
              <a:lnSpc>
                <a:spcPts val="1900"/>
              </a:lnSpc>
              <a:spcAft>
                <a:spcPts val="1200"/>
              </a:spcAft>
              <a:buClr>
                <a:schemeClr val="bg1"/>
              </a:buClr>
              <a:buSzPct val="130000"/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AQI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klasifikacija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predikcija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zvaničnoj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SEPA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metodologiji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bez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dodatnog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treniranja</a:t>
            </a:r>
            <a:endParaRPr lang="en-US" dirty="0">
              <a:solidFill>
                <a:schemeClr val="bg1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pPr algn="just">
              <a:lnSpc>
                <a:spcPts val="1900"/>
              </a:lnSpc>
              <a:spcAft>
                <a:spcPts val="1200"/>
              </a:spcAft>
              <a:buClr>
                <a:schemeClr val="bg1"/>
              </a:buClr>
              <a:buSzPct val="130000"/>
              <a:buFont typeface="Wingdings" pitchFamily="2" charset="2"/>
              <a:buChar char="Ø"/>
            </a:pPr>
            <a:endParaRPr lang="en-US" dirty="0">
              <a:solidFill>
                <a:schemeClr val="bg1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pPr algn="just">
              <a:lnSpc>
                <a:spcPts val="1900"/>
              </a:lnSpc>
              <a:spcAft>
                <a:spcPts val="1200"/>
              </a:spcAft>
              <a:buClr>
                <a:schemeClr val="bg1"/>
              </a:buClr>
              <a:buSzPct val="130000"/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Posebna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analiza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ponašanja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modela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tokom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ekstremnih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pikova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zagađenja</a:t>
            </a:r>
            <a:endParaRPr lang="en-US" dirty="0">
              <a:solidFill>
                <a:schemeClr val="bg1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pPr algn="just">
              <a:lnSpc>
                <a:spcPts val="19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1900"/>
              </a:lnSpc>
            </a:pPr>
            <a:endParaRPr lang="en-US" sz="1450" dirty="0"/>
          </a:p>
          <a:p>
            <a:pPr>
              <a:lnSpc>
                <a:spcPts val="1900"/>
              </a:lnSpc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>
              <a:solidFill>
                <a:srgbClr val="E4F3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80913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Potencijalna</a:t>
            </a:r>
            <a:r>
              <a:rPr lang="en-US" sz="2400" b="1" dirty="0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unapređenja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0913" y="5446187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Nedostatak meteoroloških podataka (vetar, padavine, </a:t>
            </a:r>
            <a:r>
              <a:rPr lang="en-US" sz="1400" dirty="0" err="1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temperatura</a:t>
            </a:r>
            <a:r>
              <a:rPr lang="en-US" sz="1400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) je granica tačnosti koju dele svi modeli podjednako. Njihovo uključivanje je prirodan sledeći korak.</a:t>
            </a:r>
            <a:endParaRPr lang="en-US" sz="1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80913" y="699247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Šta</a:t>
            </a:r>
            <a:r>
              <a:rPr lang="en-US" sz="4000" b="1" dirty="0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4000" b="1" dirty="0" err="1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smo</a:t>
            </a:r>
            <a:r>
              <a:rPr lang="en-US" sz="4000" b="1" dirty="0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 </a:t>
            </a:r>
            <a:r>
              <a:rPr lang="en-US" sz="4000" b="1" dirty="0" err="1">
                <a:solidFill>
                  <a:srgbClr val="02C39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pokazali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1151</Words>
  <Application>Microsoft Office PowerPoint</Application>
  <PresentationFormat>Widescreen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Predikcija kvaliteta vazduha u Srbiji</dc:title>
  <dc:subject>PptxGenJS Presentation</dc:subject>
  <dc:creator>Teodora Aleksić, Lenka Nikolić</dc:creator>
  <cp:lastModifiedBy>Lenka Nikolic</cp:lastModifiedBy>
  <cp:revision>17</cp:revision>
  <dcterms:created xsi:type="dcterms:W3CDTF">2026-07-06T08:30:04Z</dcterms:created>
  <dcterms:modified xsi:type="dcterms:W3CDTF">2026-07-06T18:12:21Z</dcterms:modified>
</cp:coreProperties>
</file>